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Funding ($M)</c:v>
                </c:pt>
              </c:strCache>
            </c:strRef>
          </c:tx>
          <c:spPr>
            <a:solidFill>
              <a:srgbClr val="2D6A4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A1A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Carbon Robotics</c:v>
                  </c:pt>
                  <c:pt idx="1">
                    <c:v>Ecorobotix</c:v>
                  </c:pt>
                  <c:pt idx="2">
                    <c:v>Naïo Technologies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276</c:v>
                </c:pt>
                <c:pt idx="1">
                  <c:v>150</c:v>
                </c:pt>
                <c:pt idx="2">
                  <c:v>65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A1A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A1A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4572000" cy="4572000"/>
          </a:xfrm>
          <a:prstGeom prst="ellipse">
            <a:avLst/>
          </a:prstGeom>
          <a:solidFill>
            <a:srgbClr val="2D6A4F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2286000"/>
            <a:ext cx="3657600" cy="3657600"/>
          </a:xfrm>
          <a:prstGeom prst="ellipse">
            <a:avLst/>
          </a:prstGeom>
          <a:solidFill>
            <a:srgbClr val="40916C">
              <a:alpha val="50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097280"/>
            <a:ext cx="6400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182880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 / Con Analysis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731520" y="292608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Naïo Technologies succeed or fail?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31520" y="34747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evidence-based assessment of opportunities and risks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BULLISH CASE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Naïo could succeed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393192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51560"/>
            <a:ext cx="54864" cy="1188720"/>
          </a:xfrm>
          <a:prstGeom prst="rect">
            <a:avLst/>
          </a:prstGeom>
          <a:solidFill>
            <a:srgbClr val="40916C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188720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97280" y="11430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KIOTI Partnership (Feb 2026)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097280" y="146304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MoU with Daedong Group (Kioti Europe) to co-develop a new robotic platform by end of 2026. Provides industrial manufacturing scale, cost optimization, and global distribution Naïo previously lacked.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57200" y="2377440"/>
            <a:ext cx="393192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7200" y="2377440"/>
            <a:ext cx="54864" cy="1188720"/>
          </a:xfrm>
          <a:prstGeom prst="rect">
            <a:avLst/>
          </a:prstGeom>
          <a:solidFill>
            <a:srgbClr val="40916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514600"/>
            <a:ext cx="320040" cy="3200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097280" y="24688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400+ Field-Proven Robots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1097280" y="278892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across 5 continents since 2011. This real-world data advantage is nearly impossible for newer competitors to replicate quickly. Farmers trust proven technology — few are 'early adopters.'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457200" y="3703320"/>
            <a:ext cx="393192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57200" y="3703320"/>
            <a:ext cx="54864" cy="1188720"/>
          </a:xfrm>
          <a:prstGeom prst="rect">
            <a:avLst/>
          </a:prstGeom>
          <a:solidFill>
            <a:srgbClr val="40916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840480"/>
            <a:ext cx="320040" cy="3200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097280" y="37947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Niche Market Dominance (Ted)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097280" y="411480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Ted remains the only truly autonomous 'straddler' designed for vineyards. Structured vineyard rows are ideal for autonomous navigation, and under-vine weeding is among the most labor-intensive tasks in viticulture.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4754880" y="1051560"/>
            <a:ext cx="393192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754880" y="1051560"/>
            <a:ext cx="54864" cy="1188720"/>
          </a:xfrm>
          <a:prstGeom prst="rect">
            <a:avLst/>
          </a:prstGeom>
          <a:solidFill>
            <a:srgbClr val="40916C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1188720"/>
            <a:ext cx="320040" cy="32004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394960" y="11430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 Rebirth &amp; New Capital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5394960" y="146304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Post-restructuring (Nov 2025), secured €6.4M from Mirova, Bpifrance, ARIS. New CEO Antoine Monville brings industrial expertise. Leaner team focused on proven products (Oz, Ted) rather than broad product sprawl.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4754880" y="2377440"/>
            <a:ext cx="393192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4754880" y="2377440"/>
            <a:ext cx="54864" cy="1188720"/>
          </a:xfrm>
          <a:prstGeom prst="rect">
            <a:avLst/>
          </a:prstGeom>
          <a:solidFill>
            <a:srgbClr val="40916C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3480" y="2514600"/>
            <a:ext cx="320040" cy="32004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394960" y="24688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ESG &amp; Regulatory Tailwinds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5394960" y="278892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Corp certified. EU Green Deal mandates reducing pesticide use by 50% by 2030, directly boosting demand for mechanical weeding robots. Chronic labor shortages in EU agriculture make automation essential.</a:t>
            </a:r>
            <a:endParaRPr lang="en-US" sz="1050" dirty="0"/>
          </a:p>
        </p:txBody>
      </p:sp>
      <p:sp>
        <p:nvSpPr>
          <p:cNvPr id="30" name="Shape 23"/>
          <p:cNvSpPr/>
          <p:nvPr/>
        </p:nvSpPr>
        <p:spPr>
          <a:xfrm>
            <a:off x="4754880" y="3703320"/>
            <a:ext cx="393192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4754880" y="3703320"/>
            <a:ext cx="54864" cy="1188720"/>
          </a:xfrm>
          <a:prstGeom prst="rect">
            <a:avLst/>
          </a:prstGeom>
          <a:solidFill>
            <a:srgbClr val="40916C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83480" y="3840480"/>
            <a:ext cx="320040" cy="32004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5394960" y="37947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Patents + Acquisition Value</a:t>
            </a:r>
            <a:endParaRPr lang="en-US" sz="1300" dirty="0"/>
          </a:p>
        </p:txBody>
      </p:sp>
      <p:sp>
        <p:nvSpPr>
          <p:cNvPr id="34" name="Text 26"/>
          <p:cNvSpPr/>
          <p:nvPr/>
        </p:nvSpPr>
        <p:spPr>
          <a:xfrm>
            <a:off x="5394960" y="411480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IP portfolio protects navigation tech. Even if independent scale is unachievable, Naïo is a high-value acquisition target for OEMs like Kubota, CNH Industrial, or AGCO seeking specialty crop robotics shortcuts.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C5303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BEARISH CASE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ED7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Naïo could fail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393192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51560"/>
            <a:ext cx="54864" cy="1188720"/>
          </a:xfrm>
          <a:prstGeom prst="rect">
            <a:avLst/>
          </a:prstGeom>
          <a:solidFill>
            <a:srgbClr val="C5303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188720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97280" y="11430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5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Fragile Financial History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097280" y="146304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fell from €3.96M (2021) to €2.4M (2024). Entered judicial recovery June 2025. EBITDA was -€6.2M in 2021. Despite €64M+ raised since founding, company has never been profitable. Six months of near-zero sales during restructuring.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57200" y="2377440"/>
            <a:ext cx="393192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7200" y="2377440"/>
            <a:ext cx="54864" cy="1188720"/>
          </a:xfrm>
          <a:prstGeom prst="rect">
            <a:avLst/>
          </a:prstGeom>
          <a:solidFill>
            <a:srgbClr val="C53030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514600"/>
            <a:ext cx="320040" cy="3200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097280" y="24688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5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Wine Market Dependence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1097280" y="278892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Ted robot's success is tightly coupled to the wine industry, which is in a structural downturn. Vineyards can't justify premium robotic equipment when their consumer market is shrinking. One niche downturn nearly killed the company.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457200" y="3703320"/>
            <a:ext cx="393192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57200" y="3703320"/>
            <a:ext cx="54864" cy="1188720"/>
          </a:xfrm>
          <a:prstGeom prst="rect">
            <a:avLst/>
          </a:prstGeom>
          <a:solidFill>
            <a:srgbClr val="C5303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840480"/>
            <a:ext cx="320040" cy="3200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097280" y="37947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5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Sprawl Thinned Resources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097280" y="411480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robots (Oz, Ted, Jo, Orio) across multiple markets stretched a 53-person team too thin. Competitors like Carbon Robotics focused on one product and gained more traction. 'Weeding as a service' model proved logistically unsustainable.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4754880" y="1051560"/>
            <a:ext cx="393192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754880" y="1051560"/>
            <a:ext cx="54864" cy="1188720"/>
          </a:xfrm>
          <a:prstGeom prst="rect">
            <a:avLst/>
          </a:prstGeom>
          <a:solidFill>
            <a:srgbClr val="C53030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1188720"/>
            <a:ext cx="320040" cy="32004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394960" y="11430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5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Massively Outfunded Competitors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5394960" y="146304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 Robotics: $276M raised, $100M+ revenue, 154 employees, backed by Nvidia. Ecorobotix: $150M raised, 1,000+ units sold across 30 countries, 250 employees. Naïo's €6.4M is a fraction of what competitors deploy.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4754880" y="2377440"/>
            <a:ext cx="393192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4754880" y="2377440"/>
            <a:ext cx="54864" cy="1188720"/>
          </a:xfrm>
          <a:prstGeom prst="rect">
            <a:avLst/>
          </a:prstGeom>
          <a:solidFill>
            <a:srgbClr val="C53030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3480" y="2514600"/>
            <a:ext cx="320040" cy="32004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394960" y="24688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5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Path to Profitability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5394960" y="278892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Targeting just €11M revenue by 2030 and breakeven by 2028. After 15 years of operation and €64M+ invested, this is modest. Production target of only ~100 robots/year vs. Ecorobotix already shipping 1,000+ units.</a:t>
            </a:r>
            <a:endParaRPr lang="en-US" sz="1050" dirty="0"/>
          </a:p>
        </p:txBody>
      </p:sp>
      <p:sp>
        <p:nvSpPr>
          <p:cNvPr id="30" name="Shape 23"/>
          <p:cNvSpPr/>
          <p:nvPr/>
        </p:nvSpPr>
        <p:spPr>
          <a:xfrm>
            <a:off x="4754880" y="3703320"/>
            <a:ext cx="393192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4754880" y="3703320"/>
            <a:ext cx="54864" cy="1188720"/>
          </a:xfrm>
          <a:prstGeom prst="rect">
            <a:avLst/>
          </a:prstGeom>
          <a:solidFill>
            <a:srgbClr val="C53030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83480" y="3840480"/>
            <a:ext cx="320040" cy="32004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5394960" y="37947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5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 vs. Farmer Mismatch</a:t>
            </a:r>
            <a:endParaRPr lang="en-US" sz="1300" dirty="0"/>
          </a:p>
        </p:txBody>
      </p:sp>
      <p:sp>
        <p:nvSpPr>
          <p:cNvPr id="34" name="Text 26"/>
          <p:cNvSpPr/>
          <p:nvPr/>
        </p:nvSpPr>
        <p:spPr>
          <a:xfrm>
            <a:off x="5394960" y="411480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VCs demand rapid growth, but farmers are inherently conservative adopters. Battery life limitations frustrated early customers. The premium price point limits addressable market to only the largest, most progressive farms.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COMPETITIVE FUNDING LANDSCAPE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Naïo stands vs. key competitors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005840"/>
          <a:ext cx="411480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1005840"/>
          <a:ext cx="393192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914400"/>
                <a:gridCol w="1005840"/>
                <a:gridCol w="100584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Carbon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Ecorobotix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Naïo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Founded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Funding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$276M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$150M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5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$65M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4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$100M+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Undisclosed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5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€2.4M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Employees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250+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5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4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Tech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Laser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Micro-Spray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Mech. Weeding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Chemical Free?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Micro-dose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40916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4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457200" y="4023360"/>
            <a:ext cx="82296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640080" y="411480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</a:t>
            </a:r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Naïo was founded the same year as Ecorobotix but has raised less than half the funding and generated a fraction of the revenue. However, it is the only fully chemical-free mechanical weeding solution — a distinct positioning as EU pesticide regulations tighten.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2D6A4F">
              <a:alpha val="6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600" kern="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Cautious Optimism — Survival via Partnership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7680960" cy="1234440"/>
          </a:xfrm>
          <a:prstGeom prst="rect">
            <a:avLst/>
          </a:prstGeom>
          <a:solidFill>
            <a:srgbClr val="2D6A4F">
              <a:alpha val="7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691640"/>
            <a:ext cx="7315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Verdict: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Naïo will likely survive as a technology partner or acquisition target — not as an independent market leader. The KIOTI partnership is the most promising development in the company's 15-year history, addressing the exact weakness (industrial scale) that caused its near-failure. However, the funding gap with competitors like Carbon Robotics ($276M) and Ecorobotix ($150M) is too large to close independently.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3017520"/>
            <a:ext cx="2377440" cy="160020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95D5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31089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Must Go Right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3474720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KIOTI platform must ship on time (end 2026)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point must drop 30–40% via industrial scale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Wine market stabilizes or Oz diversification succeeds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83280" y="3017520"/>
            <a:ext cx="2377440" cy="160020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95D5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3280" y="31089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Likely Outcome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520440" y="3474720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acquisition by an OEM (Kubota, CNH, AGCO, or Daedong/KIOTI)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Naïo provides IP + software; acquirer provides scale + distribution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'successful exit' scenario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035040" y="3017520"/>
            <a:ext cx="2377440" cy="160020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95D5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35040" y="31089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Biggest Risk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172200" y="3474720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KIOTI MoU is non-binding — no equity commitment yet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partnership stalls, Naïo's €6.4M runway is limited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Competitors scaling faster may close the window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31520" y="470916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line: We lean toward the positive case, but only if the KIOTI partnership converts into a binding industrial agreement in 2026.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Naïo Technologies - Pro/Con Analysis &amp; Conclusion</dc:title>
  <dc:subject>PptxGenJS Presentation</dc:subject>
  <dc:creator>Naio Analysis Team</dc:creator>
  <cp:lastModifiedBy>Naio Analysis Team</cp:lastModifiedBy>
  <cp:revision>1</cp:revision>
  <dcterms:created xsi:type="dcterms:W3CDTF">2026-04-05T16:32:38Z</dcterms:created>
  <dcterms:modified xsi:type="dcterms:W3CDTF">2026-04-05T16:32:38Z</dcterms:modified>
</cp:coreProperties>
</file>